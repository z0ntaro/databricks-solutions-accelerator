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93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tabricks.com/solutions/accelerators?industry=Retail%20and%20Consumer%20Goods,Financial%20Services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7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4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029200" cy="5029200"/>
          </a:xfrm>
          <a:prstGeom prst="ellipse">
            <a:avLst/>
          </a:prstGeom>
          <a:solidFill>
            <a:srgbClr val="0D9488">
              <a:alpha val="12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0241280" y="3108960"/>
            <a:ext cx="3291840" cy="3291840"/>
          </a:xfrm>
          <a:prstGeom prst="ellipse">
            <a:avLst/>
          </a:prstGeom>
          <a:solidFill>
            <a:srgbClr val="0D9488">
              <a:alpha val="18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-1280160" y="4206240"/>
            <a:ext cx="2926080" cy="2926080"/>
          </a:xfrm>
          <a:prstGeom prst="ellipse">
            <a:avLst/>
          </a:prstGeom>
          <a:solidFill>
            <a:srgbClr val="0D9488">
              <a:alpha val="10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REVIEW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Campaign Effectiveness &amp;</a:t>
            </a:r>
            <a:endParaRPr lang="en-US" sz="4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Basket Analysis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transaction data into predictive, revenue-driving recommendations for Retail and Financial Services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8368" y="4343400"/>
            <a:ext cx="2377440" cy="0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0080" y="45262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Arghyadeep Paul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Technical Consultant - AI &amp; Data Analytics</a:t>
            </a:r>
            <a:endParaRPr lang="en-US" sz="1500" dirty="0"/>
          </a:p>
          <a:p>
            <a:pPr marL="0" indent="0">
              <a:buNone/>
            </a:pPr>
            <a:r>
              <a:rPr lang="en-US" sz="120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Embee Software Pvt. Ltd.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6263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 Lack a Data-Driven Foundation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industries, one shared blind spot: data-driven way to know which product or offer to present next.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3F7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23591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2219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69164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next-item guess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68680" y="31089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drops a laptop in their cart. What do we show next - a mouse? A bag? An extended warranty?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4023360"/>
            <a:ext cx="45262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1051560" y="42062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wrong  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sale, no cross-sell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right  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average order value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68680" y="5623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thousands of SKUs and millions of baskets, this can't be solved by intuition alone.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172200" y="1874520"/>
            <a:ext cx="5166360" cy="4160520"/>
          </a:xfrm>
          <a:prstGeom prst="roundRect">
            <a:avLst>
              <a:gd name="adj" fmla="val 1758"/>
            </a:avLst>
          </a:prstGeom>
          <a:solidFill>
            <a:srgbClr val="F3F7FA"/>
          </a:solidFill>
          <a:ln/>
          <a:effectLst>
            <a:outerShdw blurRad="101600" dist="381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2"/>
          <p:cNvSpPr/>
          <p:nvPr/>
        </p:nvSpPr>
        <p:spPr>
          <a:xfrm>
            <a:off x="6492240" y="2194560"/>
            <a:ext cx="640080" cy="640080"/>
          </a:xfrm>
          <a:prstGeom prst="ellipse">
            <a:avLst/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359152"/>
            <a:ext cx="310896" cy="3108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315200" y="2221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731520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next-offer guess</a:t>
            </a:r>
            <a:endParaRPr lang="en-US" sz="1700" dirty="0"/>
          </a:p>
        </p:txBody>
      </p:sp>
      <p:sp>
        <p:nvSpPr>
          <p:cNvPr id="19" name="Text 15"/>
          <p:cNvSpPr/>
          <p:nvPr/>
        </p:nvSpPr>
        <p:spPr>
          <a:xfrm>
            <a:off x="6492240" y="3108960"/>
            <a:ext cx="4526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customer just opened a premium travel credit card. Which partner reward or next product are they statistically most likely to want?</a:t>
            </a:r>
            <a:endParaRPr lang="en-US" sz="1300" dirty="0"/>
          </a:p>
        </p:txBody>
      </p:sp>
      <p:sp>
        <p:nvSpPr>
          <p:cNvPr id="20" name="Shape 16"/>
          <p:cNvSpPr/>
          <p:nvPr/>
        </p:nvSpPr>
        <p:spPr>
          <a:xfrm>
            <a:off x="6492240" y="4023360"/>
            <a:ext cx="4526280" cy="146304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7"/>
          <p:cNvSpPr/>
          <p:nvPr/>
        </p:nvSpPr>
        <p:spPr>
          <a:xfrm>
            <a:off x="6675120" y="4206240"/>
            <a:ext cx="4160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wrong  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irrelevant offer, disengagement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right  → 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retention &amp; wallet share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492240" y="5623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tracing these relationships across millions of transactions isn't feasible.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the Data Find the Pattern, Automatically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proposal: 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well-established association-rule mining technique (FP-Growth) to transaction history, so the system - tells us which products or offers belong together.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0789920" cy="1965960"/>
          </a:xfrm>
          <a:prstGeom prst="roundRect">
            <a:avLst>
              <a:gd name="adj" fmla="val 3721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2587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WORKED EXAMPLE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80416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Confidence: </a:t>
            </a: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"If a customer buys a laptop, there is an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chance</a:t>
            </a: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they also buy a bag."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4400" y="32969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Lift: </a:t>
            </a: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"Buying a laptop makes them </a:t>
            </a: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5x more likely</a:t>
            </a:r>
            <a:r>
              <a:rPr lang="en-US" sz="14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buy a bag than an average shopper."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881120"/>
            <a:ext cx="9966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two metrics the system calculates for every product pair - turning a hunch into a measured, ranked recommendation.</a:t>
            </a:r>
            <a:endParaRPr lang="en-US" sz="11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4544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technique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548640" y="4956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Spark </a:t>
            </a:r>
            <a:r>
              <a:rPr lang="en-US" sz="11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MLlib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algorithm.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3672" y="457200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736592" y="4544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markets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233672" y="4956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pattern serves both Retail cross-sell and FSI next-best-offer.</a:t>
            </a:r>
            <a:endParaRPr lang="en-US" sz="11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8704" y="45720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21624" y="454456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Fits governed data platforms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7918704" y="4956048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sit on Unity Catalog / Delta Lake, so it's enterprise-ready by default.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STARTING FROM SCRATCH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Grounded in Databricks' Own Accelerator Patterns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idea, follows patterns Databricks already publishes and supports for Retail and Financial Services.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CONSUMER GOODS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product-recommender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customer-lifetime-value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pos-dlt (point-of-sale streaming)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172200" y="1920240"/>
            <a:ext cx="5166360" cy="1965960"/>
          </a:xfrm>
          <a:prstGeom prst="roundRect">
            <a:avLst>
              <a:gd name="adj" fmla="val 3256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492240" y="2148840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2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SERVICES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92240" y="2514600"/>
            <a:ext cx="4526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fraud-orchestration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merchant-classification</a:t>
            </a:r>
            <a:endParaRPr lang="en-US" sz="125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anti-money-laundering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databricks-industry-solutions catalog, filtered to Retail and Financial Services : </a:t>
            </a:r>
            <a:r>
              <a:rPr lang="en-IN" sz="1050" dirty="0">
                <a:hlinkClick r:id="rId3"/>
              </a:rPr>
              <a:t>Databricks Solution Accelerators for Data &amp; AI | Databricks</a:t>
            </a:r>
            <a:r>
              <a:rPr lang="en-IN" sz="1050" dirty="0"/>
              <a:t> (link-source)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43484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800600"/>
            <a:ext cx="502920" cy="50292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600200" y="4617720"/>
            <a:ext cx="9509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2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borrows the same medallion architecture, governance model, and deployment pattern Databricks already recommends - we're applying a trusted blueprint to a specific, high-value use case.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Pipeline Would Work,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85800" y="2130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BRONZE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1620" y="24688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538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&amp; purchase logs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072384" y="2907792"/>
            <a:ext cx="393192" cy="219456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3520440" y="19659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3520440" y="2130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260" y="24688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Mining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657600" y="3538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FP-Growth finds frequent pairs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907024" y="2907792"/>
            <a:ext cx="393192" cy="219456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6355080" y="19659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3"/>
          <p:cNvSpPr/>
          <p:nvPr/>
        </p:nvSpPr>
        <p:spPr>
          <a:xfrm>
            <a:off x="6355080" y="2130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0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468880"/>
            <a:ext cx="640080" cy="64008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44652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Rules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92240" y="3538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lift scored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8741664" y="2907792"/>
            <a:ext cx="393192" cy="219456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17"/>
          <p:cNvSpPr/>
          <p:nvPr/>
        </p:nvSpPr>
        <p:spPr>
          <a:xfrm>
            <a:off x="9189720" y="196596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8"/>
          <p:cNvSpPr/>
          <p:nvPr/>
        </p:nvSpPr>
        <p:spPr>
          <a:xfrm>
            <a:off x="9189720" y="213055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5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endParaRPr lang="en-US" sz="10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35540" y="2468880"/>
            <a:ext cx="640080" cy="64008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81160" y="32004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9326880" y="3538728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to app / campaign tool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685800" y="4434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4773168"/>
            <a:ext cx="457200" cy="45720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600200" y="4551680"/>
            <a:ext cx="4023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output: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"Customers who bought this also bought…" cross-sell prompts</a:t>
            </a:r>
            <a:endParaRPr lang="en-US" sz="1300" dirty="0"/>
          </a:p>
        </p:txBody>
      </p:sp>
      <p:sp>
        <p:nvSpPr>
          <p:cNvPr id="30" name="Shape 23"/>
          <p:cNvSpPr/>
          <p:nvPr/>
        </p:nvSpPr>
        <p:spPr>
          <a:xfrm>
            <a:off x="5989320" y="4434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63640" y="4773168"/>
            <a:ext cx="457200" cy="4572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83400" y="4551680"/>
            <a:ext cx="4297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FSI output: 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next-best partner offer or product match for a cardholder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85800" y="5897880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architecture to be confirmed during design review.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WOULD RUN 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Tooling - Standard Databricks Building Blocks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5331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below is a standard, well-supported part of the Databricks platform.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0789920" cy="987552"/>
          </a:xfrm>
          <a:prstGeom prst="roundRect">
            <a:avLst>
              <a:gd name="adj" fmla="val 648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68680" y="2121408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22677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91640" y="204825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&amp; ML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691640" y="2395728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PySpark + Spark MLlib (FP-Growth) for pattern mining at scale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3044952"/>
            <a:ext cx="10789920" cy="987552"/>
          </a:xfrm>
          <a:prstGeom prst="roundRect">
            <a:avLst>
              <a:gd name="adj" fmla="val 648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68680" y="3246120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3392424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91640" y="3172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Governance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691640" y="3520440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Lake tables governed through Unity Catalog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69664"/>
            <a:ext cx="10789920" cy="987552"/>
          </a:xfrm>
          <a:prstGeom prst="roundRect">
            <a:avLst>
              <a:gd name="adj" fmla="val 648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68680" y="4370832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4517136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691640" y="4297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Orchestration &amp; Deployment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691640" y="4645152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Asset Bundles for repeatable, versioned deployment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548640" y="5294376"/>
            <a:ext cx="10789920" cy="987552"/>
          </a:xfrm>
          <a:prstGeom prst="roundRect">
            <a:avLst>
              <a:gd name="adj" fmla="val 648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868680" y="5495544"/>
            <a:ext cx="585216" cy="5852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8E2E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4984" y="564184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691640" y="54223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Consumption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691640" y="5769864"/>
            <a:ext cx="9052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output queryable by BI tools / campaign systems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This From Idea to Pilot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0B1F3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914400" y="2167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5EEA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91440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Validate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data sources, finalize architecture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32404" y="330098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3474720" y="196596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703320" y="2167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0332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Core Engine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703320" y="34747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the basket-mining pipeline and scoring logic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021324" y="330098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492240" y="2167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49224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Prove Value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92240" y="34747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against real transaction data, measure recommendation quality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810244" y="3300984"/>
            <a:ext cx="164592" cy="164592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3F7FA"/>
          </a:solidFill>
          <a:ln/>
          <a:effectLst>
            <a:outerShdw blurRad="76200" dist="25400" dir="54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9281160" y="2167128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281160" y="2788920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 &amp; Extend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9281160" y="347472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Governance, monitoring, and readiness for wider rollout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This Worth Doing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04672" y="225856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engine, two markets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04672" y="258775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recommendation logic serves Retail cross-sell and FSI next-best-offer - no parallel builds.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33672" y="160020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182880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9704" y="225856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custom ML training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489704" y="258775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an out-of-the-box Spark MLlib algorithm - fast to stand up, easy to maintain.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7918704" y="160020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4736" y="18288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174736" y="225856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by design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174736" y="258775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Unity Catalog / Delta Lake, so it's audit-ready from day one - important for FSI.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333756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2" y="356616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04672" y="39959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Databricks' own patterns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804672" y="432511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Follows accelerator blueprints Databricks already publishes and supports.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4233672" y="333756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89704" y="35661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489704" y="39959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Deployable, not just a notebook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4489704" y="432511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Asset Bundle deployment - repeatable across dev/prod.</a:t>
            </a:r>
            <a:endParaRPr lang="en-US" sz="1050" dirty="0"/>
          </a:p>
        </p:txBody>
      </p:sp>
      <p:sp>
        <p:nvSpPr>
          <p:cNvPr id="24" name="Shape 17"/>
          <p:cNvSpPr/>
          <p:nvPr/>
        </p:nvSpPr>
        <p:spPr>
          <a:xfrm>
            <a:off x="7918704" y="3337560"/>
            <a:ext cx="3429000" cy="1508760"/>
          </a:xfrm>
          <a:prstGeom prst="roundRect">
            <a:avLst>
              <a:gd name="adj" fmla="val 4242"/>
            </a:avLst>
          </a:prstGeom>
          <a:solidFill>
            <a:srgbClr val="132A4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74736" y="356616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8174736" y="3995928"/>
            <a:ext cx="2916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pattern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8174736" y="4325112"/>
            <a:ext cx="2916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AEC2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proven, the same rule-mining approach extends to other product lines or offer types.</a:t>
            </a:r>
            <a:endParaRPr lang="en-US" sz="1050" dirty="0"/>
          </a:p>
        </p:txBody>
      </p:sp>
      <p:sp>
        <p:nvSpPr>
          <p:cNvPr id="28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AA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CASE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Is Worth Pursuing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77240" y="1801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Higher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Order Value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7157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measured, ranked cross-sell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33672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462272" y="1801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Faster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462272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to Insight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62272" y="27157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pattern discovery vs. manual analysis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18704" y="160020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8147304" y="18013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Reusable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147304" y="23774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Product Lines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47304" y="2715768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pattern extends to new categories &amp; offers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11880"/>
            <a:ext cx="10789920" cy="2057400"/>
          </a:xfrm>
          <a:prstGeom prst="roundRect">
            <a:avLst>
              <a:gd name="adj" fmla="val 3556"/>
            </a:avLst>
          </a:prstGeom>
          <a:solidFill>
            <a:srgbClr val="0B1F3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502920" cy="5029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600200" y="379476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Retail: </a:t>
            </a:r>
            <a:endParaRPr lang="en-US" sz="1300" dirty="0"/>
          </a:p>
          <a:p>
            <a:pPr marL="0" indent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E2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missed cross-sell is revenue left on the table at checkout - a measured recommendation converts more of that missed opportunity.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Financial Services: </a:t>
            </a:r>
            <a:endParaRPr lang="en-US" sz="13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irrelevant offer costs engagement and trust; a well-matched one strengthens retention and wallet share.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Effectiveness &amp; Basket Analysis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902</Words>
  <Application>Microsoft Office PowerPoint</Application>
  <PresentationFormat>Widescreen</PresentationFormat>
  <Paragraphs>147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Campaign Effectiveness &amp; Basket Analysis</dc:title>
  <dc:subject>PptxGenJS Presentation</dc:subject>
  <dc:creator>Arghyadeep Paul</dc:creator>
  <cp:lastModifiedBy>Arghyadeep Paul</cp:lastModifiedBy>
  <cp:revision>5</cp:revision>
  <dcterms:created xsi:type="dcterms:W3CDTF">2026-07-01T11:02:26Z</dcterms:created>
  <dcterms:modified xsi:type="dcterms:W3CDTF">2026-07-01T12:08:35Z</dcterms:modified>
</cp:coreProperties>
</file>